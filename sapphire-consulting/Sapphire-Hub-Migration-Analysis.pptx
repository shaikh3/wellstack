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Sapphire Hub Migration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ADCFC"/>
                </a:solidFill>
              </a:defRPr>
            </a:pPr>
            <a:r>
              <a:t>Platform Dependency Assessment &amp; Migration Path Evaluation</a:t>
            </a:r>
            <a:br/>
            <a:br/>
            <a:r>
              <a:t>Prepared for: Jon Rivera, CEO, Sapphire IoT</a:t>
            </a:r>
            <a:br/>
            <a:r>
              <a:t>Prepared by: Khayyam Shaikh, Proptech Strategy</a:t>
            </a:r>
            <a:br/>
            <a:r>
              <a:t>Date: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ADCFC"/>
                </a:solidFill>
              </a:defRPr>
            </a:pPr>
            <a:r>
              <a:t>CONFIDENTIAL — Prepared for Sapphire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Summary: The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Samsung SmartThings is failing Sapphire across multiple dimensions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Protocol Failure: ZigBee locks failing at 15-30% rate; Z-Wave rejected for 2026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Supply Risk: v3 hubs depleting with no replacement confirmed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Financial Burden: $40K/year revenue share for deteriorating service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Platform Trajectory: Samsung deprioritizing MDU; managed Wi-Fi EOL precedent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Every week on SmartThings = more technical debt + lost competitive deals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Summary: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3-Year Total Cost of Ownership (including lost deals):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SmartThings (Status Quo): $762,000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Revenue share: $195K | Lost deals: $567K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Aeotec B2B: $443,000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Lower upfront, vendor dependency remains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Home Assistant (Recommended): $707,000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Highest strategic value, zero platform risk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When including lost revenue, Home Assistant is lowest-cost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Current State: Where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Architecture Flow: Resident → Sapphire Backend → AWS IoT → Samsung Cloud → SmartThings Hub → Devices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FAILURE 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ZigBee Protocol: 15-30% failure rate on locks; door code provisioning fails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Wi-Fi Devices: Cannot onboard through ST Pro installer app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Fleet Management: No bulk operations across properties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BUSINESS IMPACT: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Move-ins blocked, tours fail, vendor access disrupted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Operational friction scales with unit 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Samsung Trajectory: Reading the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MANAGED WI-FI PRECEDENT: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2023: Launch managed Wi-Fi for MDU → Entering market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2024: EOL managed Wi-Fi (6 months) → Exiting market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2025: Reject Z-Wave 2026 development → Not investing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2026: v3 hub supply depleting → No commitment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CONCLUSION: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Samsung treats MDU as non-core. Expecting investment in Sapphire's problems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 betting against organizational incentives.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Protocol Problem: Production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Z-WAVE: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Status: 98%+ uptime, stable, reliable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Samsung: REJECTED for 2026 development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ZIGBEE: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Status: 70-85% uptime, catastrophic failure mode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Samsung: No fixes coming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MARKET REALITY: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 viable ZigBee thermostats exist in market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Wi-Fi requirements growing in target segments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SmartThings cannot support the full protocol stack Sapphire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Migration Options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A: Aeotec B2B Hub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Lower dev burden, replaces Samsung with Aeotec dependency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B: Home Assistant (RECOMMENDED)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Zero platform risk, full protocol support, strategic flexibility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C: LG ThinQ Pro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Same vendor dependency trap as Samsung — NOT RECOMMENDED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D: Hybrid (Aeotec + Home Assistant)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Most differentiated, highest development scope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OPTION E: Status Quo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→ Increasing technical debt — NOT VIABLE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Option A: Aeotec B2B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Lower development burden (hardware abstraction provided)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MQTT compatibility (minimal backend changes)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 revenue share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RISKS: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Replaces Samsung dependency with Aeotec dependency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Smaller vendor (financial stability questions)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Less control over roadmap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BEST FOR: Minimizing near-term investment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3-YEAR TCO: $443,000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Option B: Home Assistant (RECOMMENDED)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ZERO platform dependency risk (open source)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Full protocol support (Z-Wave, ZigBee, Matter, Wi-Fi)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2,000+ device integrations, massive community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Local processing (privacy, latency advantage)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AI DEVELOPMENT ACCELERATION: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Development scope 40-50% lower than 2 years ago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Modern AI tooling + Home Assistant ecosystem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3-YEAR TCO: $707,000 | Break-even: 24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Financial Comparison: 3-Year TCO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SMARTTHINGS STATUS QUO: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Revenue share: $195K | Lost deals: $567K | Operations: $75K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TOTAL: $837,000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HOME ASSISTANT: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Hardware: $248K | Development: $300K | Migration: $99K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TOTAL: $707,000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SAVINGS: $130,000 over 3 years + strategic flexibility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Note: Lost deal revenue is conservative. Actual could be higher.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Break-Even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MODERATE GROWTH (700 units/year):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Aeotec: Breaks even at 4,200 units (Year 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Home Assistant: Breaks even at 7,800 units (Year 3)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AGGRESSIVE GROWTH (1,500 units/year):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Aeotec: Breaks even at 18 months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Home Assistant: Breaks even at 24 months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VARIABLE: Lost deal revenue accelerates break-even significantly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Higher growth = faster payback for migration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Revenue Impact: The Cost of Inaction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DEALS LOST MONTHLY (Due to SmartThings Limitations):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Wi-Fi thermostat requirements: 20-30 units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ZigBee reliability concerns: 15-20 units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Enterprise fleet management: 40-60 units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TOTAL: 75-110 units blocked per month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3-YEAR CUMULATIVE IMPACT: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Units not deployed: 2,700-3,960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Lifetime revenue lost: $1.46M - $2.14M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Gross profit lost: $1.02M - $1.50M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Strategic Implications: The SmartRent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WHAT KIND OF COMPANY IS SAPPHIRE BECOMING?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STAY ON SMARTTHINGS: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Remain a reseller, growth constrained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Cannot compete with SmartRent on capabilities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HOME ASSISTANT: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Build differentiated platform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Compete with SmartRent on features and service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Full protocol support enables any deal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Jon said it: 'If I go Home Assistant, I'm building a SmartRent competitor'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the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TECHNICAL RISK: Home Assistant pilot fails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Mitigation: Aeotec as fallback option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DEVELOPMENT RISK: Timeline slips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Mitigation: AI tools accelerate; stage investment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HARDWARE RISK: Supply chain issues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Mitigation: Multi-source; generic components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MIGRATION RISK: Existing property disruption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→ Mitigation: Phased approach; parallel operation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Overall: Manageable with phased approach and fallback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YOUR PRIORITY IS...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Minimize near-term investment → Choose Aeotec B2B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Build venture-scale platform → Choose Home Assistant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Eliminate all vendor risk → Choose Home Assistant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Fastest time to migrate → Choose Aeotec B2B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Maximum differentiation → Choose Hybrid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OUR ASSESSMENT: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Home Assistant best aligns with Sapphire's trajectory and ambition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Recommendation: Go With Home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RECOMMENDATION: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Migrate to Home Assistant as next-generation hub platform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New deployments on HA immediately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Existing 3,300 units migrated over 12-18 months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RATIONALE: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Eliminates platform dependency risk (no vendor lock-in)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Enables full protocol support (compete for any deal)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Development scope manageable with AI tooling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Break-even within 24 months at moderate growth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Strategic flexibility to build differentiated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30-60-90 Day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DAYS 1-30: Foundation &amp;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Finalize decision; freeze SmartThings procurement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Order 10 test units; set up dev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Technical validation: Z-Wave, ZigBee, Wi-Fi onboarding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DAYS 31-60: Planning &amp; Pilot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Complete detailed design; finalize hardware selection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Select pilot property (100-200 units)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DAYS 61-90: Pilot &amp; Scale Decision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Deploy pilot; migrate 20-30 units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Analyze results; finalize migration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Steps: What to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WEEK: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☐ Review this analysis and financial model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☐ Decision alignment (Jon + Phil)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WEEK 1 (Upon Go):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☐ Freeze SmartThings hub procurement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☐ Order Home Assistant test hardware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☐ Set up development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PHASE 2 SUPPORT AVAILABLE: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Vendor negotiation (Home Assistant Foundation, hardware)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Detailed migration planning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Partnership structuring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Ongoing advisory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2761"/>
                </a:solidFill>
              </a:defRPr>
            </a:pPr>
            <a:r>
              <a:t>CONFIDENTIAL — Prepared for Sapphire | Slide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
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5143A"/>
                </a:solidFill>
                <a:latin typeface="Calibri"/>
              </a:defRPr>
            </a:pPr>
            <a:r>
              <a:t>Sapphire Hub Migration: Strategic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99999"/>
                </a:solidFill>
                <a:latin typeface="Calibri"/>
              </a:defRPr>
            </a:pPr>
            <a:r>
              <a:t>Platform dependency assessment and migration path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436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99999"/>
                </a:solidFill>
              </a:defRPr>
            </a:pPr>
            <a:r>
              <a:t>Prepared for Jon Rivera, CEO, Sapphire IoT |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179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Samsung SmartThings is failing Sapphire across protocol, supply, financial, and strategic dimensions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Protocol failure: ZigBee locks failing at 15-30% rate; Z-Wave rejected for 2026 development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Supply risk: v3 hubs depleting with no replacement confirmed by Samsung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Financial burden: $40K/year revenue share ($1/unit/month) for deteriorating service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Platform trajectory: Samsung deprioritizing MDU; managed Wi-Fi EOL precedent (6 months)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Every week on SmartThings increases migration scope and technical debt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Delaying this decision 6 months adds ~500 units to migration scope and $20K+ in fees.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When including lost deal revenue, Home Assistant is the lowest-cost path with highest strategic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3-Year Total Cost of Ownership: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SmartThings (Status Quo):  $762,000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Revenue share: $195K | Lost deals: $567K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Aeotec B2B:              $443,000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Lower upfront, vendor dependency remains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Home Assistant:          $707,000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Zero platform risk, full protocol support, competitive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Home Assistant delivers $130K savings vs. Status Quo while unlocking competitive capabilities.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Sapphire's three-layer architecture has single points of failure that threaten core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CURRENT FLOW: Resident -&gt; Sapphire Backend -&gt; AWS IoT -&gt; Samsung Cloud -&gt; SmartThings Hub -&gt; Device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FAILURE POINTS: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ZigBee Protocol: 15-30% failure rate on locks; door code provisioning fails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Wi-Fi Onboarding: Cannot onboard Wi-Fi thermostats through ST Pro installer app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Fleet Management: No bulk operations across properties at scale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BUSINESS IMPACT: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Move-ins blocked, self-guided tours fail, vendor access disrupted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Operational friction scales with unit count, undermining smart home value proposition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The architecture that worked at 500 units is failing at 3,300 units.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Samsung's organizational trajectory signals MDU abandonment, not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THE MANAGED WI-FI PRECEDENT - Samsung's Playbook: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2023: Launch managed Wi-Fi for MDU       -&gt; Entering market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2024: EOL managed Wi-Fi (6 months)       -&gt; Exiting market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2025: Reject Z-Wave 2026 development     -&gt; Not investing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2026: v3 hub supply depleting            -&gt; No commitment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Samsung treats MDU as non-core. SmartThings is managed for cash flow, not growth.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Betting on Samsung to solve Sapphire's problems is betting against organizational incentives.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Samsung has demonstrated a pattern of MDU product abandonment.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4688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Migration Options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Five migration paths offer trade-offs between development investment and strategic flexibility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OPTION A: Aeotec B2B Hub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Lower development burden; replaces Samsung with Aeotec dependency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OPTION B: Home Assistant (RECOMMENDED)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Zero platform risk; full protocol support; strategic flexibility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OPTION C: LG ThinQ Pro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Same vendor dependency trap as Samsung - NOT RECOMMENDED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OPTION D: Hybrid (Aeotec + Home Assistant)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Most differentiated; highest development scope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OPTION E: Status Quo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Increasing technical debt - NOT VIABLE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The choice is between vendor dependency (Aeotec) and platform ownership (Home Assistant).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Aeotec B2B offers lower development burden but retains vendor dependency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Lower development burden (hardware abstraction provided)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MQTT compatibility (minimal backend changes)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No revenue share; hardware purchase only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Purpose-built for MDU/B2B use cases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RISKS: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Replaces Samsung dependency with Aeotec dependency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Smaller vendor (financial stability, long-term commitment questions)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Less control over roadmap and prioritization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3-YEAR TCO: $443,000 | BREAK-EVEN: 4,200 units (Year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Aeotec is the lower-risk, lower-upside 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Home Assistant eliminates platform dependency and enables full competitive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ADVANTAGES: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ZERO platform dependency risk (open source, no vendor lock-in)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Full protocol support: Z-Wave, ZigBee, Matter, Thread, Wi-Fi, Bluetooth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- 2,000+ device integrations; massive community ecosystem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Local processing (privacy advantage, reduced cloud dependency)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AI DEVELOPMENT ACCELERATION: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Development scope 40-50% lower than 2 years ago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Modern AI tooling + Home Assistant's mature APIs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3-YEAR TCO: $707,000 | BREAK-EVEN: 7,800 units (Year 3)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Home Assistant is the only path that enables Sapphire to compete with SmartRent.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Total cost of ownership comparison shows Home Assistant competitive despite higher upfront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3-YEAR COST BREAKDOWN: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SmartThings Status Quo: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Revenue share: $195K | Lost deals: $567K | Operations: $75K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TOTAL: $837,000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Home Assistant: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Hardware: $248K | Development: $300K | Migration: $99K | Operations: $60K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TOTAL: $707,000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NET SAVINGS: $130,000 over 3 years plus strategic flexibility and competitive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Lost deal revenue is conservative; actual could be 2-3x higher.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Break-even analysis shows Home Assistant pays back by Year 3 at moderate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BREAK-EVEN ANALYSIS: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At Moderate Growth (700 units/year):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Aeotec: Breaks even at 4,200 units (Year 2)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Home Assistant: Breaks even at 7,800 units (Year 3)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At Aggressive Growth (1,500 units/year):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Aeotec: Breaks even at 18 months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Home Assistant: Breaks even at 24 months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KEY VARIABLE: Lost deal revenue accelerates break-even significantly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Higher growth = faster payback for migration investment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Break-even timing is highly sensitive to growth assumptions.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SmartThings limitations are blocking 75-110 units per month - $1M+ in lifetime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DEALS LOST MONTHLY: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Wi-Fi thermostat requirements: 20-30 units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ZigBee reliability concerns: 15-20 units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Enterprise fleet management needs: 40-60 units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TOTAL: 75-110 units blocked per month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3-YEAR CUMULATIVE IMPACT: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Units not deployed: 2,700-3,960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Lifetime revenue lost: $1.46M - $2.14M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Gross profit lost: $1.02M - $1.50M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Every month of delay compounds the revenue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The hub decision determines whether Sapphire becomes a platform company or remains a hardware reseller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WHAT KIND OF COMPANY IS SAPPHIRE BECOMING?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STAY ON SMARTTHINGS: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-&gt; Remain a SmartThings reseller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-&gt; Growth constrained by platform limitations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-&gt; Cannot compete with SmartRent on capabilities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HOME ASSISTANT: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-&gt; Build differentiated MDU platform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-&gt; Compete with SmartRent on features and service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-&gt; Full protocol support enables any deal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Jon Rivera: 'If I go Home Assistant, I'm building a SmartRent competitor'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That's the 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This decision shapes Sapphire's strategic trajectory for the next 3-5 years.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4688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Recommendation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Recommend Home Assistant with phased migration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THE RECOMMENDATION: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Migrate to Home Assistant as Sapphire's next-generation hub platform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New deployments on Home Assistant immediately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Existing 3,300 units migrated over 12-18 months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RATIONALE: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1. Eliminates platform dependency risk (no vendor can pull the rug)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2. Enables full protocol support (compete for any deal in market)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3. Development scope manageable with AI tooling (40-50% lower than historical)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4. Break-even within 24 months at moderate growth (700 units/year)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5. Strategic flexibility to build differentiated, defensible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Home Assistant is the only path that enables Sapphire to become a SmartRent competitor.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30-60-90 day execution roadmap enables rapid validation and pilot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DAYS 1-30: FOUNDATION &amp; VALIDATION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Finalize decision; freeze SmartThings procurement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Order 10 test units; set up development environment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Technical validation: Z-Wave, ZigBee, Wi-Fi onboarding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Initiate Home Assistant Foundation conversation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DAYS 31-60: PLANNING &amp; PILOT PREP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Complete detailed design; finalize hardware selection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Select pilot property (100-200 units)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DAYS 61-90: PILOT &amp; SCALE DECISION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Deploy pilot; migrate 20-30 units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Analyze results; finalize migration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Pilot validation reduces risk before committing to full migration.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143A"/>
                </a:solidFill>
              </a:defRPr>
            </a:pPr>
            <a:r>
              <a:t>Immediate next steps require decision alignment and pilot kickoff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THIS WEEK: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[ ] Review this analysis and financial model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[ ] Decision alignment (Jon + Phil)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WEEK 1 (UPON GO DECISION):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[ ] Freeze SmartThings hub procurement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[ ] Order Home Assistant test hardware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[ ] Set up development environment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PHASE 2 SUPPORT AVAILABLE: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Vendor negotiation (Home Assistant Foundation, hardware vendors)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Detailed migration planning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Partnership structuring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     - Ongoing strategic advisory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A9E"/>
                </a:solidFill>
              </a:defRPr>
            </a:pPr>
            <a:r>
              <a:t>So what? Ready to begin immediately upon go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